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3" r:id="rId9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A94"/>
          </a:solidFill>
          <a:ln w="12700">
            <a:solidFill>
              <a:srgbClr val="1F5A9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一次関数 確認テスト 解説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1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傾き・切片・変化の割合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−3　　② 5　　③ −3</a:t>
            </a:r>
            <a:endParaRPr lang="en-US" sz="2500" dirty="0"/>
          </a:p>
        </p:txBody>
      </p:sp>
      <p:sp>
        <p:nvSpPr>
          <p:cNvPr id="19" name="Shape 16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400" b="1">
                <a:solidFill>
                  <a:srgbClr val="1E1E1E"/>
                </a:solidFill>
                <a:latin typeface="Noto Sans CJK JP"/>
              </a:rPr>
              <a:t>y=ax+b では、a が傾き、b が切片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1810512"/>
            <a:ext cx="1097280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0" b="0">
                <a:solidFill>
                  <a:srgbClr val="1E1E1E"/>
                </a:solidFill>
                <a:latin typeface="Cambria Math"/>
              </a:rPr>
              <a:t>y 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1810512"/>
            <a:ext cx="749808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 b="1">
                <a:solidFill>
                  <a:srgbClr val="1E1E1E"/>
                </a:solidFill>
                <a:latin typeface="Cambria Math"/>
              </a:rPr>
              <a:t>−3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0992" y="1810512"/>
            <a:ext cx="1078992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0" b="0">
                <a:solidFill>
                  <a:srgbClr val="1E1E1E"/>
                </a:solidFill>
                <a:latin typeface="Cambria Math"/>
              </a:rPr>
              <a:t>x 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810512"/>
            <a:ext cx="475488" cy="7132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0" b="1">
                <a:solidFill>
                  <a:srgbClr val="1E1E1E"/>
                </a:solidFill>
                <a:latin typeface="Cambria Math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83480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22342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61204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00066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38928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177790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216652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255514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94376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333238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372100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410962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449824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488686" y="2560320"/>
            <a:ext cx="38862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527548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566410" y="2534716"/>
            <a:ext cx="38862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63440" y="2615184"/>
            <a:ext cx="124358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5A97"/>
                </a:solidFill>
                <a:latin typeface="Noto Sans CJK JP"/>
              </a:rPr>
              <a:t>傾き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39712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859143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878574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898005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917436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936867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956298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975729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995160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7014591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034022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053453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72884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092315" y="2560320"/>
            <a:ext cx="19431" cy="25603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111746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131177" y="2534716"/>
            <a:ext cx="19431" cy="25604"/>
          </a:xfrm>
          <a:prstGeom prst="line">
            <a:avLst/>
          </a:prstGeom>
          <a:ln w="22860">
            <a:solidFill>
              <a:srgbClr val="1F5A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556248" y="2615184"/>
            <a:ext cx="87782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1F5A97"/>
                </a:solidFill>
                <a:latin typeface="Noto Sans CJK JP"/>
              </a:rPr>
              <a:t>切片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14600" y="3182112"/>
            <a:ext cx="7178040" cy="822960"/>
          </a:xfrm>
          <a:prstGeom prst="roundRect">
            <a:avLst/>
          </a:prstGeom>
          <a:solidFill>
            <a:srgbClr val="E6EFF8"/>
          </a:solidFill>
          <a:ln w="19050">
            <a:solidFill>
              <a:srgbClr val="1F5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 wrap="none"/>
          <a:lstStyle/>
          <a:p>
            <a:pPr algn="ctr"/>
            <a:r>
              <a:rPr sz="3000" b="1">
                <a:solidFill>
                  <a:srgbClr val="1F5A97"/>
                </a:solidFill>
                <a:latin typeface="Noto Sans CJK JP"/>
              </a:rPr>
              <a:t>一次関数では　傾き ＝ 変化の割合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増加量と変化の割合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l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D97706"/>
                </a:solidFill>
                <a:latin typeface="Noto Sans CJK JP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18288" tIns="18288" rIns="18288" bIns="18288" rtlCol="0" anchor="ctr">
            <a:normAutofit/>
          </a:bodyPr>
          <a:lstStyle/>
          <a:p>
            <a:pPr algn="l" indent="0" marL="0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222222"/>
                </a:solidFill>
                <a:latin typeface="Noto Sans CJK JP"/>
              </a:rPr>
              <a:t>① 5　　　② −10　　　③ −2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1719072"/>
            <a:ext cx="3017520" cy="3364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41648" y="1719072"/>
            <a:ext cx="3154680" cy="3364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97496" y="1719072"/>
            <a:ext cx="3246120" cy="3364992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9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1248" y="1874519"/>
            <a:ext cx="393192" cy="393192"/>
          </a:xfrm>
          <a:prstGeom prst="ellipse">
            <a:avLst/>
          </a:prstGeom>
          <a:solidFill>
            <a:srgbClr val="1F5A94"/>
          </a:solidFill>
          <a:ln>
            <a:solidFill>
              <a:srgbClr val="1F5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1837943"/>
            <a:ext cx="2304287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A94"/>
                </a:solidFill>
                <a:latin typeface="Noto Sans CJK JP"/>
              </a:rPr>
              <a:t>x の増加量</a:t>
            </a:r>
          </a:p>
        </p:txBody>
      </p:sp>
      <p:sp>
        <p:nvSpPr>
          <p:cNvPr id="31" name="Oval 30"/>
          <p:cNvSpPr/>
          <p:nvPr/>
        </p:nvSpPr>
        <p:spPr>
          <a:xfrm>
            <a:off x="4197096" y="1874519"/>
            <a:ext cx="393192" cy="393192"/>
          </a:xfrm>
          <a:prstGeom prst="ellipse">
            <a:avLst/>
          </a:prstGeom>
          <a:solidFill>
            <a:srgbClr val="1F5A94"/>
          </a:solidFill>
          <a:ln>
            <a:solidFill>
              <a:srgbClr val="1F5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1837943"/>
            <a:ext cx="2441448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A94"/>
                </a:solidFill>
                <a:latin typeface="Noto Sans CJK JP"/>
              </a:rPr>
              <a:t>y の増加量</a:t>
            </a:r>
          </a:p>
        </p:txBody>
      </p:sp>
      <p:sp>
        <p:nvSpPr>
          <p:cNvPr id="33" name="Oval 32"/>
          <p:cNvSpPr/>
          <p:nvPr/>
        </p:nvSpPr>
        <p:spPr>
          <a:xfrm>
            <a:off x="7552944" y="1874519"/>
            <a:ext cx="393192" cy="393192"/>
          </a:xfrm>
          <a:prstGeom prst="ellipse">
            <a:avLst/>
          </a:prstGeom>
          <a:solidFill>
            <a:srgbClr val="1F5A94"/>
          </a:solidFill>
          <a:ln>
            <a:solidFill>
              <a:srgbClr val="1F5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4423" y="1837943"/>
            <a:ext cx="2532887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A94"/>
                </a:solidFill>
                <a:latin typeface="Noto Sans CJK JP"/>
              </a:rPr>
              <a:t>変化の割合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2542032"/>
            <a:ext cx="233172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2222"/>
                </a:solidFill>
                <a:latin typeface="Noto Sans CJK JP"/>
              </a:rPr>
              <a:t>x：−1 →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" y="3246120"/>
            <a:ext cx="265176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Noto Sans CJK JP"/>
              </a:rPr>
              <a:t>4 − (−1) ＝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151376"/>
            <a:ext cx="178308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7706"/>
                </a:solidFill>
                <a:latin typeface="Noto Sans CJK JP"/>
              </a:rPr>
              <a:t>①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2414016"/>
            <a:ext cx="274320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A94"/>
                </a:solidFill>
                <a:latin typeface="Noto Sans CJK JP"/>
              </a:rPr>
              <a:t>x＝−1 のとき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2779776"/>
            <a:ext cx="274320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JP"/>
              </a:rPr>
              <a:t>y＝−2×(−1)+7＝9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182112"/>
            <a:ext cx="274320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A94"/>
                </a:solidFill>
                <a:latin typeface="Noto Sans CJK JP"/>
              </a:rPr>
              <a:t>x＝4 のとき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3547872"/>
            <a:ext cx="274320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JP"/>
              </a:rPr>
              <a:t>y＝−2×4+7＝−1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3968496"/>
            <a:ext cx="2907792" cy="438912"/>
          </a:xfrm>
          <a:prstGeom prst="rect">
            <a:avLst/>
          </a:prstGeom>
          <a:noFill/>
        </p:spPr>
        <p:txBody>
          <a:bodyPr wrap="square" anchor="ctr" lIns="27432" rIns="27432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Noto Sans CJK JP"/>
              </a:rPr>
              <a:t>よって　−1 − 9 ＝ −10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389120"/>
            <a:ext cx="205740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97706"/>
                </a:solidFill>
                <a:latin typeface="Noto Sans CJK JP"/>
              </a:rPr>
              <a:t>② −10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4727448"/>
            <a:ext cx="2788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F5A94"/>
                </a:solidFill>
                <a:latin typeface="Noto Sans CJK JP"/>
              </a:rPr>
              <a:t>減った → 増加量は負の数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2395728"/>
            <a:ext cx="2487168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A94"/>
                </a:solidFill>
                <a:latin typeface="Noto Sans CJK JP"/>
              </a:rPr>
              <a:t>変化の割合 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2088" y="2743200"/>
            <a:ext cx="2999232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F5A94"/>
                </a:solidFill>
                <a:latin typeface="Noto Sans CJK JP"/>
              </a:rPr>
              <a:t>yの増加量 ÷ xの増加量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3419856"/>
            <a:ext cx="2487168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22222"/>
                </a:solidFill>
                <a:latin typeface="Noto Sans CJK JP"/>
              </a:rPr>
              <a:t>−10 ÷ 5 ＝ −2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4279392"/>
            <a:ext cx="1783080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7706"/>
                </a:solidFill>
                <a:latin typeface="Noto Sans CJK JP"/>
              </a:rPr>
              <a:t>③ −2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5449824"/>
            <a:ext cx="11155680" cy="676656"/>
          </a:xfrm>
          <a:prstGeom prst="roundRect">
            <a:avLst/>
          </a:prstGeom>
          <a:solidFill>
            <a:srgbClr val="EAF2F9"/>
          </a:solidFill>
          <a:ln w="12700">
            <a:solidFill>
              <a:srgbClr val="1F5A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5504688"/>
            <a:ext cx="9601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F5A94"/>
                </a:solidFill>
                <a:latin typeface="Noto Sans CJK JP"/>
              </a:rPr>
              <a:t>検算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5431536"/>
            <a:ext cx="1001268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22222"/>
                </a:solidFill>
                <a:latin typeface="Noto Sans CJK JP"/>
              </a:rPr>
              <a:t>一次関数では　変化の割合 ＝ 傾き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5742432"/>
            <a:ext cx="4956048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7706"/>
                </a:solidFill>
                <a:latin typeface="Noto Sans CJK JP"/>
              </a:rPr>
              <a:t>y＝−2x＋7 の傾きも −2 → 一致！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21031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Noto Sans CJK JP"/>
              </a:rPr>
              <a:t>一次関数 確認テスト 解説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6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Noto Sans CJK JP"/>
              </a:rPr>
              <a:t>問3①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46888"/>
            <a:ext cx="62179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5D6570"/>
                </a:solidFill>
                <a:latin typeface="Noto Sans CJK JP"/>
              </a:rPr>
              <a:t>グラフと式を対応させる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58952"/>
            <a:ext cx="11201400" cy="621792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59536"/>
            <a:ext cx="6858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E07000"/>
                </a:solidFill>
                <a:latin typeface="Noto Sans CJK JP"/>
              </a:rPr>
              <a:t>答え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22960"/>
            <a:ext cx="978408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202020"/>
                </a:solidFill>
                <a:latin typeface="Noto Sans CJK JP"/>
              </a:rPr>
              <a:t>ア①　　イ②</a:t>
            </a:r>
          </a:p>
        </p:txBody>
      </p:sp>
      <p:pic>
        <p:nvPicPr>
          <p:cNvPr id="8" name="Picture 7" descr="q3_match_grap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627632"/>
            <a:ext cx="553212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1627632"/>
            <a:ext cx="5074920" cy="21214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792224"/>
            <a:ext cx="448056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24639E"/>
                </a:solidFill>
                <a:latin typeface="Noto Sans CJK JP"/>
              </a:rPr>
              <a:t>① まず「切片」で候補をしぼる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212848"/>
            <a:ext cx="242316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202020"/>
                </a:solidFill>
                <a:latin typeface="Noto Sans CJK JP"/>
              </a:rPr>
              <a:t>y = ax + 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87968" y="2596896"/>
            <a:ext cx="283464" cy="0"/>
          </a:xfrm>
          <a:prstGeom prst="line">
            <a:avLst/>
          </a:prstGeom>
          <a:ln w="30480">
            <a:solidFill>
              <a:srgbClr val="E07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72600" y="2231136"/>
            <a:ext cx="1691640" cy="3657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E07000"/>
                </a:solidFill>
                <a:latin typeface="Noto Sans CJK JP"/>
              </a:rPr>
              <a:t>b が切片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3950207"/>
            <a:ext cx="5074920" cy="1773936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114800"/>
            <a:ext cx="42062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24639E"/>
                </a:solidFill>
                <a:latin typeface="Noto Sans CJK JP"/>
              </a:rPr>
              <a:t>② 次に「傾き」で決める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544568"/>
            <a:ext cx="4114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202020"/>
                </a:solidFill>
                <a:latin typeface="Noto Sans CJK JP"/>
              </a:rPr>
              <a:t>ア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4745736"/>
            <a:ext cx="713232" cy="0"/>
          </a:xfrm>
          <a:prstGeom prst="line">
            <a:avLst/>
          </a:prstGeom>
          <a:ln w="27940">
            <a:solidFill>
              <a:srgbClr val="246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119872" y="4389120"/>
            <a:ext cx="0" cy="356616"/>
          </a:xfrm>
          <a:prstGeom prst="line">
            <a:avLst/>
          </a:prstGeom>
          <a:ln w="27940">
            <a:solidFill>
              <a:srgbClr val="246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406640" y="4773168"/>
            <a:ext cx="77724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4639E"/>
                </a:solidFill>
                <a:latin typeface="Noto Sans CJK JP"/>
              </a:rPr>
              <a:t>右へ1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4389120"/>
            <a:ext cx="68580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4639E"/>
                </a:solidFill>
                <a:latin typeface="Noto Sans CJK JP"/>
              </a:rPr>
              <a:t>上へ2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4535424"/>
            <a:ext cx="21488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傾き 2 → 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084064"/>
            <a:ext cx="4114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202020"/>
                </a:solidFill>
                <a:latin typeface="Noto Sans CJK JP"/>
              </a:rPr>
              <a:t>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5257800"/>
            <a:ext cx="1005840" cy="0"/>
          </a:xfrm>
          <a:prstGeom prst="line">
            <a:avLst/>
          </a:prstGeom>
          <a:ln w="27940">
            <a:solidFill>
              <a:srgbClr val="246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12480" y="5257800"/>
            <a:ext cx="0" cy="246888"/>
          </a:xfrm>
          <a:prstGeom prst="line">
            <a:avLst/>
          </a:prstGeom>
          <a:ln w="27940">
            <a:solidFill>
              <a:srgbClr val="2463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79" y="5303520"/>
            <a:ext cx="77724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4639E"/>
                </a:solidFill>
                <a:latin typeface="Noto Sans CJK JP"/>
              </a:rPr>
              <a:t>右へ2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5303520"/>
            <a:ext cx="68580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4639E"/>
                </a:solidFill>
                <a:latin typeface="Noto Sans CJK JP"/>
              </a:rPr>
              <a:t>下へ1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5084064"/>
            <a:ext cx="5943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202020"/>
                </a:solidFill>
                <a:latin typeface="Noto Sans CJK JP"/>
              </a:rPr>
              <a:t>傾き</a:t>
            </a:r>
          </a:p>
        </p:txBody>
      </p:sp>
      <p:pic>
        <p:nvPicPr>
          <p:cNvPr id="33" name="Picture 32" descr="minus_hal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0" y="5029200"/>
            <a:ext cx="548640" cy="3967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314432" y="5084064"/>
            <a:ext cx="7315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2020"/>
                </a:solidFill>
                <a:latin typeface="Noto Sans CJK JP"/>
              </a:rPr>
              <a:t>→ 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943600"/>
            <a:ext cx="11201400" cy="502920"/>
          </a:xfrm>
          <a:prstGeom prst="roundRect">
            <a:avLst/>
          </a:prstGeom>
          <a:solidFill>
            <a:srgbClr val="E8F1F9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044184"/>
            <a:ext cx="1325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24639E"/>
                </a:solidFill>
                <a:latin typeface="Noto Sans CJK JP"/>
              </a:rPr>
              <a:t>使った知識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98464"/>
            <a:ext cx="90068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y軸との交点＝切片　／　傾き＝yの増加量÷xの増加量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37960"/>
            <a:ext cx="219456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D6570"/>
                </a:solidFill>
                <a:latin typeface="Noto Sans CJK JP"/>
              </a:rPr>
              <a:t>一次関数 確認テスト 解説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D6570"/>
                </a:solidFill>
                <a:latin typeface="Noto Sans CJK JP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31152" y="2670048"/>
            <a:ext cx="3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2020"/>
                </a:solidFill>
                <a:latin typeface="Noto Sans CJK JP"/>
              </a:rPr>
              <a:t>①</a:t>
            </a:r>
          </a:p>
        </p:txBody>
      </p:sp>
      <p:pic>
        <p:nvPicPr>
          <p:cNvPr id="41" name="Picture 40" descr="f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480" y="2596896"/>
            <a:ext cx="1874519" cy="52133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931152" y="3090672"/>
            <a:ext cx="320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02020"/>
                </a:solidFill>
                <a:latin typeface="Noto Sans CJK JP"/>
              </a:rPr>
              <a:t>②</a:t>
            </a:r>
          </a:p>
        </p:txBody>
      </p:sp>
      <p:pic>
        <p:nvPicPr>
          <p:cNvPr id="43" name="Picture 42" descr="f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480" y="2999232"/>
            <a:ext cx="2377440" cy="565716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8549640" y="2962656"/>
            <a:ext cx="365760" cy="0"/>
          </a:xfrm>
          <a:prstGeom prst="line">
            <a:avLst/>
          </a:prstGeom>
          <a:ln w="27940">
            <a:solidFill>
              <a:srgbClr val="E07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53728" y="3401568"/>
            <a:ext cx="365760" cy="0"/>
          </a:xfrm>
          <a:prstGeom prst="line">
            <a:avLst/>
          </a:prstGeom>
          <a:ln w="27940">
            <a:solidFill>
              <a:srgbClr val="E07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464040" y="2834640"/>
            <a:ext cx="187451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202020"/>
                </a:solidFill>
                <a:latin typeface="Noto Sans CJK JP"/>
              </a:rPr>
              <a:t>どちらも b＝−1
→ ①・②が候補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6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058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Noto Sans CJK JP"/>
              </a:rPr>
              <a:t>問3②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46888"/>
            <a:ext cx="621792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5D6570"/>
                </a:solidFill>
                <a:latin typeface="Noto Sans CJK JP"/>
              </a:rPr>
              <a:t>残った式のグラフをかく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58952"/>
            <a:ext cx="11201400" cy="621792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59536"/>
            <a:ext cx="6858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E07000"/>
                </a:solidFill>
                <a:latin typeface="Noto Sans CJK JP"/>
              </a:rPr>
              <a:t>答え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50392"/>
            <a:ext cx="4114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Noto Sans CJK JP"/>
              </a:rPr>
              <a:t>③</a:t>
            </a:r>
          </a:p>
        </p:txBody>
      </p:sp>
      <p:pic>
        <p:nvPicPr>
          <p:cNvPr id="8" name="Picture 7" descr="q3_f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4519" y="822960"/>
            <a:ext cx="2834640" cy="6144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748272" y="1737360"/>
            <a:ext cx="4617720" cy="12984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2029968"/>
            <a:ext cx="40233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0"/>
                </a:solidFill>
                <a:latin typeface="Noto Sans CJK JP"/>
              </a:rPr>
              <a:t>① 切片 2 → (0,2) をとる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8272" y="3310128"/>
            <a:ext cx="4617720" cy="16642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943600"/>
            <a:ext cx="11201400" cy="502920"/>
          </a:xfrm>
          <a:prstGeom prst="roundRect">
            <a:avLst/>
          </a:prstGeom>
          <a:solidFill>
            <a:srgbClr val="E8F1F9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044184"/>
            <a:ext cx="1325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24639E"/>
                </a:solidFill>
                <a:latin typeface="Noto Sans CJK JP"/>
              </a:rPr>
              <a:t>使った知識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998464"/>
            <a:ext cx="90068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グラフは「切片で1点」→「傾きでもう1点」→ 2点を結ぶ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219456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D6570"/>
                </a:solidFill>
                <a:latin typeface="Noto Sans CJK JP"/>
              </a:rPr>
              <a:t>一次関数 確認テスト 解説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D6570"/>
                </a:solidFill>
                <a:latin typeface="Noto Sans CJK JP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511296"/>
            <a:ext cx="1097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300" b="1">
                <a:solidFill>
                  <a:srgbClr val="202020"/>
                </a:solidFill>
                <a:latin typeface="Noto Sans CJK JP"/>
              </a:rPr>
              <a:t>② 傾き</a:t>
            </a:r>
          </a:p>
        </p:txBody>
      </p:sp>
      <p:pic>
        <p:nvPicPr>
          <p:cNvPr id="24" name="Picture 23" descr="hal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9872" y="3438144"/>
            <a:ext cx="621792" cy="45557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22592" y="3895344"/>
            <a:ext cx="2423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02020"/>
                </a:solidFill>
                <a:latin typeface="Noto Sans CJK JP"/>
              </a:rPr>
              <a:t>右へ2、下へ1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4297680"/>
            <a:ext cx="23774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4639E"/>
                </a:solidFill>
                <a:latin typeface="Noto Sans CJK JP"/>
              </a:rPr>
              <a:t>(0,2) → (2,1)</a:t>
            </a:r>
          </a:p>
        </p:txBody>
      </p:sp>
      <p:pic>
        <p:nvPicPr>
          <p:cNvPr id="27" name="Picture 26" descr="q3_draw_graph_shift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368" y="1664208"/>
            <a:ext cx="557784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負の傾きと変域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−5 ≦ y ≦ 10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834640" cy="3566160"/>
          </a:xfrm>
          <a:prstGeom prst="roundRect">
            <a:avLst>
              <a:gd name="adj" fmla="val 1290"/>
            </a:avLst>
          </a:prstGeom>
          <a:solidFill>
            <a:srgbClr val="F4F8FC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993392"/>
            <a:ext cx="1828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【例】正の傾き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615184"/>
            <a:ext cx="1920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= 2x + 1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3090672"/>
            <a:ext cx="1920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≦ x ≦ 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0"/>
            <a:ext cx="19202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≦ y ≦ 9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932688" y="4590288"/>
            <a:ext cx="2331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xが増える → yも増える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749040" y="3566160"/>
            <a:ext cx="594360" cy="0"/>
          </a:xfrm>
          <a:prstGeom prst="line">
            <a:avLst/>
          </a:prstGeom>
          <a:noFill/>
          <a:ln w="31750">
            <a:solidFill>
              <a:srgbClr val="1F5A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26280" y="1783080"/>
            <a:ext cx="6903720" cy="3566160"/>
          </a:xfrm>
          <a:prstGeom prst="roundRect">
            <a:avLst>
              <a:gd name="adj" fmla="val 1026"/>
            </a:avLst>
          </a:prstGeom>
          <a:solidFill>
            <a:srgbClr val="F6F7F9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00600" y="1956816"/>
            <a:ext cx="28346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今回：y = −3x + 4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892040" y="2697480"/>
            <a:ext cx="1051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= −2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8932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 y = 10（最大）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892040" y="3566160"/>
            <a:ext cx="1051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 = 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9320" y="3529584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 y = −5（最小）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64108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だから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94192" y="3273552"/>
            <a:ext cx="2377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−5 ≦ y ≦ 10</a:t>
            </a:r>
            <a:endParaRPr lang="en-US" sz="2900" dirty="0"/>
          </a:p>
        </p:txBody>
      </p:sp>
      <p:sp>
        <p:nvSpPr>
          <p:cNvPr id="22" name="Shape 20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傾きが負なら、xが増えるとyは減る → 左端で最大・右端で最小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条件から一次関数を選ぶ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ア①　　イ②　　ウ①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94360" y="1755648"/>
            <a:ext cx="3154680" cy="3703320"/>
          </a:xfrm>
          <a:prstGeom prst="roundRect">
            <a:avLst>
              <a:gd name="adj" fmla="val 1159"/>
            </a:avLst>
          </a:prstGeom>
          <a:solidFill>
            <a:srgbClr val="F6F7F9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069080" y="1755648"/>
            <a:ext cx="3154680" cy="3703320"/>
          </a:xfrm>
          <a:prstGeom prst="roundRect">
            <a:avLst>
              <a:gd name="adj" fmla="val 1159"/>
            </a:avLst>
          </a:prstGeom>
          <a:solidFill>
            <a:srgbClr val="F6F7F9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571232" y="1755648"/>
            <a:ext cx="3977640" cy="3703320"/>
          </a:xfrm>
          <a:prstGeom prst="roundRect">
            <a:avLst>
              <a:gd name="adj" fmla="val 988"/>
            </a:avLst>
          </a:prstGeom>
          <a:solidFill>
            <a:srgbClr val="F4F8FC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1143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傾き 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2414016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97280" y="2743200"/>
            <a:ext cx="2057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①と③にしぼる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97280" y="3273552"/>
            <a:ext cx="2057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点 (1,4) を通る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463040" y="4069080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25196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828032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2点から傾き</a:t>
            </a:r>
            <a:endParaRPr lang="en-US" sz="2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17720" y="2514600"/>
            <a:ext cx="2468880" cy="640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53712" y="3291840"/>
            <a:ext cx="2240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傾き −2、切片 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504688" y="367588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5102352" y="3959352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78181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ウ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8302752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1900" b="1">
                <a:solidFill>
                  <a:srgbClr val="222222"/>
                </a:solidFill>
                <a:latin typeface="Noto Sans CJK JP"/>
              </a:rPr>
              <a:t>平行 → 傾きが同じ 2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8339328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点 (2,6) を通る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9189720" y="3218688"/>
            <a:ext cx="320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</a:t>
            </a:r>
            <a:endParaRPr lang="en-US" sz="2500" dirty="0"/>
          </a:p>
        </p:txBody>
      </p:sp>
      <p:sp>
        <p:nvSpPr>
          <p:cNvPr id="28" name="Text 25"/>
          <p:cNvSpPr/>
          <p:nvPr/>
        </p:nvSpPr>
        <p:spPr>
          <a:xfrm>
            <a:off x="8796528" y="3657600"/>
            <a:ext cx="100584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</a:t>
            </a:r>
            <a:endParaRPr lang="en-US" sz="3400" dirty="0"/>
          </a:p>
        </p:txBody>
      </p:sp>
      <p:sp>
        <p:nvSpPr>
          <p:cNvPr id="29" name="Shape 26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2点 → まず傾き ／ 平行な直線 → 傾きが同じ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4828032"/>
            <a:ext cx="2788920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>
                <a:solidFill>
                  <a:srgbClr val="24639E"/>
                </a:solidFill>
                <a:latin typeface="Noto Sans CJK JP"/>
              </a:rPr>
              <a:t>※別解：2点を代入し、a,b の連立でもOK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交点を求める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交点  (3, 1100)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61320" cy="777240"/>
          </a:xfrm>
          <a:prstGeom prst="roundRect">
            <a:avLst>
              <a:gd name="adj" fmla="val 4706"/>
            </a:avLst>
          </a:prstGeom>
          <a:solidFill>
            <a:srgbClr val="EAF2F9"/>
          </a:solidFill>
          <a:ln w="1016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97280" y="1956816"/>
            <a:ext cx="99669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交点では、2つの式の y の値が同じ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417320" y="2880360"/>
            <a:ext cx="402336" cy="402336"/>
          </a:xfrm>
          <a:prstGeom prst="ellipse">
            <a:avLst/>
          </a:prstGeom>
          <a:solidFill>
            <a:srgbClr val="1F5A94"/>
          </a:solidFill>
          <a:ln w="1270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288493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798064"/>
            <a:ext cx="4617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300x + 200 ＝ 100x + 800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629400" y="3090672"/>
            <a:ext cx="566928" cy="0"/>
          </a:xfrm>
          <a:prstGeom prst="line">
            <a:avLst/>
          </a:prstGeom>
          <a:noFill/>
          <a:ln w="29210">
            <a:solidFill>
              <a:srgbClr val="1F5A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479792" y="2807208"/>
            <a:ext cx="19659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200x ＝ 600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9619488" y="3090672"/>
            <a:ext cx="475488" cy="0"/>
          </a:xfrm>
          <a:prstGeom prst="line">
            <a:avLst/>
          </a:prstGeom>
          <a:noFill/>
          <a:ln w="29210">
            <a:solidFill>
              <a:srgbClr val="1F5A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378440" y="2807208"/>
            <a:ext cx="91440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x＝3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417320" y="3977640"/>
            <a:ext cx="402336" cy="402336"/>
          </a:xfrm>
          <a:prstGeom prst="ellipse">
            <a:avLst/>
          </a:prstGeom>
          <a:solidFill>
            <a:srgbClr val="1F5A94"/>
          </a:solidFill>
          <a:ln w="1270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17320" y="3982212"/>
            <a:ext cx="402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93392" y="3895344"/>
            <a:ext cx="411480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どちらかの式に x＝3 を代入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99632" y="3877056"/>
            <a:ext cx="457200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＝ 300×3 + 200 ＝ 1100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交点では「同じxに対するyが等しい」→ 2つの式を等しくする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800" b="1">
                <a:solidFill>
                  <a:srgbClr val="202020"/>
                </a:solidFill>
                <a:latin typeface="Noto Sans CJK JP"/>
              </a:rPr>
              <a:t>問7①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0">
                <a:solidFill>
                  <a:srgbClr val="5F6978"/>
                </a:solidFill>
                <a:latin typeface="Noto Sans CJK JP"/>
              </a:rPr>
              <a:t>まず斜めの直線アを判定する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 ②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7668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97612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7556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17500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77444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7388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7332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57276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7220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550468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529640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508812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487984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467156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" y="446328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425500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404672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383844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363016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77240" y="342188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77240" y="321360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77240" y="300532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" y="279704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" y="258876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77240" y="238048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77240" y="217220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77240" y="196392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77240" y="1755648"/>
            <a:ext cx="539496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976120" y="1755648"/>
            <a:ext cx="0" cy="374904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77240" y="3838448"/>
            <a:ext cx="5394960" cy="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811528" y="38750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10408" y="38750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209288" y="38750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08168" y="387502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592072" y="4788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592072" y="37470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592072" y="27056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592072" y="16642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80760" y="354584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049272" y="17373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7240" y="1755648"/>
            <a:ext cx="5394960" cy="3749040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04672" y="2359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ア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6675120" y="1783080"/>
            <a:ext cx="4663440" cy="3611880"/>
          </a:xfrm>
          <a:prstGeom prst="roundRect">
            <a:avLst>
              <a:gd name="adj" fmla="val 1013"/>
            </a:avLst>
          </a:prstGeom>
          <a:solidFill>
            <a:srgbClr val="F4F8FC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004304" y="1993392"/>
            <a:ext cx="2743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 2x + y = 6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004304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だけにすると…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406640" y="2999232"/>
            <a:ext cx="30632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 = −2x + 6</a:t>
            </a:r>
            <a:endParaRPr lang="en-US" sz="2900" dirty="0"/>
          </a:p>
        </p:txBody>
      </p:sp>
      <p:sp>
        <p:nvSpPr>
          <p:cNvPr id="54" name="Text 52"/>
          <p:cNvSpPr/>
          <p:nvPr/>
        </p:nvSpPr>
        <p:spPr>
          <a:xfrm>
            <a:off x="7205472" y="3822192"/>
            <a:ext cx="15544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傾き −2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9070848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切片 6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342632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グラフのアと一致</a:t>
            </a:r>
            <a:endParaRPr lang="en-US" sz="2300" dirty="0"/>
          </a:p>
        </p:txBody>
      </p:sp>
      <p:sp>
        <p:nvSpPr>
          <p:cNvPr id="57" name="Shape 55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ax+by=c のまま見づらければ、y＝… の形に直して「傾き・切片」を見る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800" b="1">
                <a:solidFill>
                  <a:srgbClr val="202020"/>
                </a:solidFill>
                <a:latin typeface="Noto Sans CJK JP"/>
              </a:rPr>
              <a:t>問7②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0">
                <a:solidFill>
                  <a:srgbClr val="5F6978"/>
                </a:solidFill>
                <a:latin typeface="Noto Sans CJK JP"/>
              </a:rPr>
              <a:t>次に縦線・横線を見抜く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イ⑤　　ウ⑧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82189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587137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92086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397034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01983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06931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61188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016829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21777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26726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231674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636623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041571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46520" y="1755648"/>
            <a:ext cx="0" cy="374904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" y="5504688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5236899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4969111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4701322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77240" y="4433534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77240" y="4165745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77240" y="3897957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77240" y="3630168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77240" y="3362379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" y="3094591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77240" y="2826802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77240" y="2559014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77240" y="2291225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77240" y="2023437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77240" y="1755648"/>
            <a:ext cx="5669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206931" y="1755648"/>
            <a:ext cx="0" cy="374904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77240" y="3897957"/>
            <a:ext cx="5669280" cy="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017597" y="3934533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042339" y="3934533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67082" y="3934533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822883" y="5145459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22883" y="3806517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22883" y="246757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55080" y="3605349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280083" y="17373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016829" y="5504688"/>
            <a:ext cx="0" cy="-3749040"/>
          </a:xfrm>
          <a:prstGeom prst="line">
            <a:avLst/>
          </a:prstGeom>
          <a:noFill/>
          <a:ln w="3810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77240" y="4701322"/>
            <a:ext cx="5669280" cy="0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144845" y="2062625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636623" y="481105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ウ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6903720" y="1901952"/>
            <a:ext cx="4343400" cy="1234440"/>
          </a:xfrm>
          <a:prstGeom prst="roundRect">
            <a:avLst>
              <a:gd name="adj" fmla="val 2963"/>
            </a:avLst>
          </a:prstGeom>
          <a:solidFill>
            <a:srgbClr val="EAF2F9"/>
          </a:solidFill>
          <a:ln w="1016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7205472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イ：どこでも x＝2</a:t>
            </a:r>
            <a:endParaRPr lang="en-US" sz="2300" dirty="0"/>
          </a:p>
        </p:txBody>
      </p:sp>
      <p:sp>
        <p:nvSpPr>
          <p:cNvPr id="53" name="Text 51"/>
          <p:cNvSpPr/>
          <p:nvPr/>
        </p:nvSpPr>
        <p:spPr>
          <a:xfrm>
            <a:off x="7205472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縦線 → ⑤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6903720" y="3456432"/>
            <a:ext cx="4343400" cy="1234440"/>
          </a:xfrm>
          <a:prstGeom prst="roundRect">
            <a:avLst>
              <a:gd name="adj" fmla="val 2963"/>
            </a:avLst>
          </a:prstGeom>
          <a:solidFill>
            <a:srgbClr val="F6F7F9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205472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ウ：どこでも y＝−3</a:t>
            </a:r>
            <a:endParaRPr lang="en-US" sz="2300" dirty="0"/>
          </a:p>
        </p:txBody>
      </p:sp>
      <p:sp>
        <p:nvSpPr>
          <p:cNvPr id="56" name="Text 54"/>
          <p:cNvSpPr/>
          <p:nvPr/>
        </p:nvSpPr>
        <p:spPr>
          <a:xfrm>
            <a:off x="7205472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横線 → ⑧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x＝a は縦線 ／ y＝b は横線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問8①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停止時間と帰りの速さ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停止 4分　／　家に向かう速さ 75m/分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309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0675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041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5407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773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0139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7505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871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5440680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4360" y="4885006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94360" y="4329332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773658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94360" y="3217985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94360" y="2662311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2106637"/>
            <a:ext cx="662940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1828800"/>
            <a:ext cx="0" cy="361188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94360" y="5440680"/>
            <a:ext cx="6629400" cy="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2976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3956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276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5916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312" y="5349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10312" y="368221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10312" y="2015197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65392" y="5074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x(分)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" y="18105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y(m)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4360" y="5440680"/>
            <a:ext cx="2209800" cy="-3334043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804160" y="2106637"/>
            <a:ext cx="1473200" cy="0"/>
          </a:xfrm>
          <a:prstGeom prst="line">
            <a:avLst/>
          </a:prstGeom>
          <a:noFill/>
          <a:ln w="508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277360" y="2106637"/>
            <a:ext cx="2946400" cy="3334043"/>
          </a:xfrm>
          <a:prstGeom prst="line">
            <a:avLst/>
          </a:prstGeom>
          <a:noFill/>
          <a:ln w="3810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543800" y="1828800"/>
            <a:ext cx="3977640" cy="1481328"/>
          </a:xfrm>
          <a:prstGeom prst="roundRect">
            <a:avLst>
              <a:gd name="adj" fmla="val 2469"/>
            </a:avLst>
          </a:prstGeom>
          <a:solidFill>
            <a:srgbClr val="FFF1E2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81812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1">
                <a:solidFill>
                  <a:srgbClr val="D97706"/>
                </a:solidFill>
                <a:latin typeface="Noto Sans CJK JP"/>
              </a:rPr>
              <a:t>停止　10 − 6 ＝ 4分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818120" y="2542032"/>
            <a:ext cx="32918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横ばい＝距離が変わらない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7543800" y="3611880"/>
            <a:ext cx="3977640" cy="1600200"/>
          </a:xfrm>
          <a:prstGeom prst="roundRect">
            <a:avLst>
              <a:gd name="adj" fmla="val 2286"/>
            </a:avLst>
          </a:prstGeom>
          <a:solidFill>
            <a:srgbClr val="EAF2F9"/>
          </a:solidFill>
          <a:ln w="1016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18120" y="3794760"/>
            <a:ext cx="3200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1">
                <a:solidFill>
                  <a:srgbClr val="1F5A94"/>
                </a:solidFill>
                <a:latin typeface="Noto Sans CJK JP"/>
              </a:rPr>
              <a:t>帰り　600m を 8分で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882128" y="4370832"/>
            <a:ext cx="3200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600 ÷ 8 ＝ 75m/分</a:t>
            </a:r>
            <a:endParaRPr lang="en-US" sz="2300" dirty="0"/>
          </a:p>
        </p:txBody>
      </p:sp>
      <p:sp>
        <p:nvSpPr>
          <p:cNvPr id="46" name="Shape 44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横ばい＝停止 ／ 速さ＝距離÷時間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問8②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300m地点を通る時刻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3分後、14分後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9700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15392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1084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677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2468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18160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3852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69544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452360" y="1828800"/>
            <a:ext cx="0" cy="361188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5440680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885006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0080" y="4329332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3773658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40080" y="3217985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40080" y="2662311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0080" y="2106637"/>
            <a:ext cx="68122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" y="1828800"/>
            <a:ext cx="0" cy="361188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0080" y="5440680"/>
            <a:ext cx="6812280" cy="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7548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1086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624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6008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7392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87768" y="54772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6032" y="53492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6032" y="368221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56032" y="2015197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93992" y="5074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x(分)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" y="18105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y(m)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440680"/>
            <a:ext cx="2270760" cy="-3334043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910840" y="2106637"/>
            <a:ext cx="1513840" cy="0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424680" y="2106637"/>
            <a:ext cx="3027680" cy="3334043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40080" y="3773658"/>
            <a:ext cx="6812280" cy="0"/>
          </a:xfrm>
          <a:prstGeom prst="line">
            <a:avLst/>
          </a:prstGeom>
          <a:noFill/>
          <a:ln w="2540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693164" y="369136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856224" y="369136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7772400" y="1828800"/>
            <a:ext cx="3703320" cy="1463040"/>
          </a:xfrm>
          <a:prstGeom prst="roundRect">
            <a:avLst>
              <a:gd name="adj" fmla="val 2500"/>
            </a:avLst>
          </a:prstGeom>
          <a:solidFill>
            <a:srgbClr val="EAF2F9"/>
          </a:solidFill>
          <a:ln w="1016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028431" y="2011680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1800" b="1">
                <a:solidFill>
                  <a:srgbClr val="1F5A94"/>
                </a:solidFill>
                <a:latin typeface="Noto Sans CJK JP"/>
              </a:rPr>
              <a:t>往路　600mの半分 → 3分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8366760" y="2542032"/>
            <a:ext cx="2148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(6分の半分)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7772400" y="3611880"/>
            <a:ext cx="3703320" cy="1463040"/>
          </a:xfrm>
          <a:prstGeom prst="roundRect">
            <a:avLst>
              <a:gd name="adj" fmla="val 2500"/>
            </a:avLst>
          </a:prstGeom>
          <a:solidFill>
            <a:srgbClr val="FFF1E2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028431" y="3776472"/>
            <a:ext cx="30632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1800" b="1">
                <a:solidFill>
                  <a:srgbClr val="D97706"/>
                </a:solidFill>
                <a:latin typeface="Noto Sans CJK JP"/>
              </a:rPr>
              <a:t>復路　10分〜18分の中間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8613648" y="4315968"/>
            <a:ext cx="17373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14分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同じ場所を「行き」と「帰り」で2回通ることがある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問9①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料金プランから式をつくる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A：y=300x+200　　B：y=100x+800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4754880" cy="3611880"/>
          </a:xfrm>
          <a:prstGeom prst="roundRect">
            <a:avLst>
              <a:gd name="adj" fmla="val 1013"/>
            </a:avLst>
          </a:prstGeom>
          <a:solidFill>
            <a:srgbClr val="F6F7F9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947672"/>
            <a:ext cx="9144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プラン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20240" y="1947672"/>
            <a:ext cx="12344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1">
                <a:solidFill>
                  <a:srgbClr val="6B7280"/>
                </a:solidFill>
                <a:latin typeface="Noto Sans CJK JP"/>
              </a:rPr>
              <a:t>基本料金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20440" y="1947672"/>
            <a:ext cx="14630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1">
                <a:solidFill>
                  <a:srgbClr val="6B7280"/>
                </a:solidFill>
                <a:latin typeface="Noto Sans CJK JP"/>
              </a:rPr>
              <a:t>1時間につき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96112" y="2395728"/>
            <a:ext cx="416052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2578608"/>
            <a:ext cx="457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993392" y="257860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30752" y="257860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300円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3310128"/>
            <a:ext cx="457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993392" y="331012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800円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30752" y="3310128"/>
            <a:ext cx="914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91640" y="414223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000" b="1">
                <a:solidFill>
                  <a:srgbClr val="D97706"/>
                </a:solidFill>
                <a:latin typeface="Noto Sans CJK JP"/>
              </a:rPr>
              <a:t>基本料金 ＝ 切片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599432"/>
            <a:ext cx="2834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1900" b="1">
                <a:solidFill>
                  <a:srgbClr val="D97706"/>
                </a:solidFill>
                <a:latin typeface="Noto Sans CJK JP"/>
              </a:rPr>
              <a:t>1時間につき ＝ 傾き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15000" y="3529584"/>
            <a:ext cx="640080" cy="0"/>
          </a:xfrm>
          <a:prstGeom prst="line">
            <a:avLst/>
          </a:prstGeom>
          <a:noFill/>
          <a:ln w="29210">
            <a:solidFill>
              <a:srgbClr val="1F5A94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583680" y="1965960"/>
            <a:ext cx="4709160" cy="2697480"/>
          </a:xfrm>
          <a:prstGeom prst="roundRect">
            <a:avLst>
              <a:gd name="adj" fmla="val 1356"/>
            </a:avLst>
          </a:prstGeom>
          <a:solidFill>
            <a:srgbClr val="F4F8FC"/>
          </a:solidFill>
          <a:ln w="1016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58000" y="2157984"/>
            <a:ext cx="4114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200" b="1">
                <a:solidFill>
                  <a:srgbClr val="1F5A94"/>
                </a:solidFill>
                <a:latin typeface="Noto Sans CJK JP"/>
              </a:rPr>
              <a:t>Aプラン　y = 300x + 200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0" y="3163824"/>
            <a:ext cx="4114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2200" b="1">
                <a:solidFill>
                  <a:srgbClr val="1F5A94"/>
                </a:solidFill>
                <a:latin typeface="Noto Sans CJK JP"/>
              </a:rPr>
              <a:t>Bプラン　y = 100x + 800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文章の「最初からかかる量」＝切片 ／ 「1増えるごとの量」＝傾き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6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0"/>
                </a:solidFill>
                <a:latin typeface="Noto Sans CJK JP"/>
              </a:rPr>
              <a:t>問9②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46888"/>
            <a:ext cx="658368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5D6570"/>
                </a:solidFill>
                <a:latin typeface="Noto Sans CJK JP"/>
              </a:rPr>
              <a:t>切片と交点の2点から、2本の直線をかく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58952"/>
            <a:ext cx="11201400" cy="621792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59536"/>
            <a:ext cx="82296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E07000"/>
                </a:solidFill>
                <a:latin typeface="Noto Sans CJK JP"/>
              </a:rPr>
              <a:t>答え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822960"/>
            <a:ext cx="955548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202020"/>
                </a:solidFill>
                <a:latin typeface="Noto Sans CJK JP"/>
              </a:rPr>
              <a:t>AもBも「切片」と「交点」を結べばよい</a:t>
            </a:r>
          </a:p>
        </p:txBody>
      </p:sp>
      <p:pic>
        <p:nvPicPr>
          <p:cNvPr id="8" name="Picture 7" descr="q9_graph_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73352"/>
            <a:ext cx="653796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783080"/>
            <a:ext cx="4251960" cy="13533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3364992"/>
            <a:ext cx="4251960" cy="135331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4992624"/>
            <a:ext cx="37947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0">
                <a:solidFill>
                  <a:srgbClr val="5D6570"/>
                </a:solidFill>
                <a:latin typeface="Noto Sans CJK JP"/>
              </a:rPr>
              <a:t>※ 交点 (3,1100) は問6の結果を使える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943600"/>
            <a:ext cx="11201400" cy="502920"/>
          </a:xfrm>
          <a:prstGeom prst="roundRect">
            <a:avLst/>
          </a:prstGeom>
          <a:solidFill>
            <a:srgbClr val="E8F1F9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044184"/>
            <a:ext cx="1325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24639E"/>
                </a:solidFill>
                <a:latin typeface="Noto Sans CJK JP"/>
              </a:rPr>
              <a:t>使った知識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998464"/>
            <a:ext cx="90068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直線は2点で決まる。今回は「切片」と「交点」を使う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219456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D6570"/>
                </a:solidFill>
                <a:latin typeface="Noto Sans CJK JP"/>
              </a:rPr>
              <a:t>一次関数 確認テスト 解説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D6570"/>
                </a:solidFill>
                <a:latin typeface="Noto Sans CJK JP"/>
              </a:rP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1938528"/>
            <a:ext cx="33375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50" b="1">
                <a:solidFill>
                  <a:srgbClr val="24639E"/>
                </a:solidFill>
                <a:latin typeface="Noto Sans CJK JP"/>
              </a:rPr>
              <a:t>Aプラン：切片 (0,200)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2340864"/>
            <a:ext cx="33375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50" b="1">
                <a:solidFill>
                  <a:srgbClr val="202020"/>
                </a:solidFill>
                <a:latin typeface="Noto Sans CJK JP"/>
              </a:rPr>
              <a:t>　　　　交点 (3,1100)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2706624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07000"/>
                </a:solidFill>
                <a:latin typeface="Noto Sans CJK JP"/>
              </a:rPr>
              <a:t>この2点を結ぶ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8" y="3529584"/>
            <a:ext cx="33375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50" b="1">
                <a:solidFill>
                  <a:srgbClr val="24639E"/>
                </a:solidFill>
                <a:latin typeface="Noto Sans CJK JP"/>
              </a:rPr>
              <a:t>Bプラン：切片 (0,800)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3931920"/>
            <a:ext cx="33375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50" b="1">
                <a:solidFill>
                  <a:srgbClr val="202020"/>
                </a:solidFill>
                <a:latin typeface="Noto Sans CJK JP"/>
              </a:rPr>
              <a:t>　　　　交点 (3,1100)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8" y="4297680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E07000"/>
                </a:solidFill>
                <a:latin typeface="Noto Sans CJK JP"/>
              </a:rPr>
              <a:t>この2点を結ぶ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問9③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8760" y="292608"/>
            <a:ext cx="5943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どちらのプランが安い？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183112" cy="658368"/>
          </a:xfrm>
          <a:prstGeom prst="roundRect">
            <a:avLst>
              <a:gd name="adj" fmla="val 8333"/>
            </a:avLst>
          </a:prstGeom>
          <a:solidFill>
            <a:srgbClr val="FFF1E2"/>
          </a:solidFill>
          <a:ln w="1524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905256"/>
            <a:ext cx="65836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822960"/>
            <a:ext cx="10012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3時間より長い → Bプラン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0" cy="3730752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93976" y="1783080"/>
            <a:ext cx="0" cy="3730752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410712" y="1783080"/>
            <a:ext cx="0" cy="3730752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27448" y="1783080"/>
            <a:ext cx="0" cy="3730752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044184" y="1783080"/>
            <a:ext cx="0" cy="3730752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60920" y="1783080"/>
            <a:ext cx="0" cy="3730752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5513832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5140757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767682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77240" y="4394606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4021531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3648456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3275381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7240" y="2902306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77240" y="2529230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" y="2156155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1783080"/>
            <a:ext cx="6583680" cy="0"/>
          </a:xfrm>
          <a:prstGeom prst="line">
            <a:avLst/>
          </a:prstGeom>
          <a:noFill/>
          <a:ln w="889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77240" y="1783080"/>
            <a:ext cx="0" cy="3730752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77240" y="5513832"/>
            <a:ext cx="6583680" cy="0"/>
          </a:xfrm>
          <a:prstGeom prst="line">
            <a:avLst/>
          </a:prstGeom>
          <a:noFill/>
          <a:ln w="1778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12648" y="5550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29384" y="5550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5550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62856" y="5550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79592" y="5550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96328" y="555040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93192" y="542239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3192" y="355701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3192" y="1691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04888" y="51937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x(時間)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0392" y="17647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y(円)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77240" y="5140757"/>
            <a:ext cx="6583680" cy="-2798064"/>
          </a:xfrm>
          <a:prstGeom prst="line">
            <a:avLst/>
          </a:prstGeom>
          <a:noFill/>
          <a:ln w="38100">
            <a:solidFill>
              <a:srgbClr val="222222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77240" y="4021531"/>
            <a:ext cx="6583680" cy="-932688"/>
          </a:xfrm>
          <a:prstGeom prst="line">
            <a:avLst/>
          </a:prstGeom>
          <a:noFill/>
          <a:ln w="3810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645152" y="337962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727448" y="5513832"/>
            <a:ext cx="0" cy="-3730752"/>
          </a:xfrm>
          <a:prstGeom prst="line">
            <a:avLst/>
          </a:prstGeom>
          <a:noFill/>
          <a:ln w="228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570878" y="2431207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570878" y="2981493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7699248" y="1828800"/>
            <a:ext cx="3703320" cy="1005840"/>
          </a:xfrm>
          <a:prstGeom prst="roundRect">
            <a:avLst>
              <a:gd name="adj" fmla="val 3636"/>
            </a:avLst>
          </a:prstGeom>
          <a:solidFill>
            <a:srgbClr val="FFF1E2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7973568" y="1975104"/>
            <a:ext cx="31546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sz="1800" b="1">
                <a:solidFill>
                  <a:srgbClr val="222222"/>
                </a:solidFill>
                <a:latin typeface="Noto Sans CJK JP"/>
              </a:rPr>
              <a:t>3時間では　同じ 1100円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7699248" y="3127248"/>
            <a:ext cx="3703320" cy="1508760"/>
          </a:xfrm>
          <a:prstGeom prst="roundRect">
            <a:avLst>
              <a:gd name="adj" fmla="val 2424"/>
            </a:avLst>
          </a:prstGeom>
          <a:solidFill>
            <a:srgbClr val="EAF2F9"/>
          </a:solidFill>
          <a:ln w="1016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001000" y="3310128"/>
            <a:ext cx="30632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3時間より右側を見る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8065008" y="3822192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Bのグラフの方が下</a:t>
            </a:r>
            <a:endParaRPr lang="en-US" sz="2300" dirty="0"/>
          </a:p>
        </p:txBody>
      </p:sp>
      <p:sp>
        <p:nvSpPr>
          <p:cNvPr id="49" name="Text 47"/>
          <p:cNvSpPr/>
          <p:nvPr/>
        </p:nvSpPr>
        <p:spPr>
          <a:xfrm>
            <a:off x="8485632" y="4224528"/>
            <a:ext cx="20116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↓ 料金が安い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502920" y="5806440"/>
            <a:ext cx="11183112" cy="502920"/>
          </a:xfrm>
          <a:prstGeom prst="roundRect">
            <a:avLst>
              <a:gd name="adj" fmla="val 9091"/>
            </a:avLst>
          </a:prstGeom>
          <a:solidFill>
            <a:srgbClr val="EAF2F9"/>
          </a:solidFill>
          <a:ln w="11430">
            <a:solidFill>
              <a:srgbClr val="1F5A94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85800" y="5925312"/>
            <a:ext cx="123444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F5A9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使った知識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2084831" y="5879592"/>
            <a:ext cx="9189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料金のグラフでは「下にある方」が安い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73952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77777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6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41732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202020"/>
                </a:solidFill>
                <a:latin typeface="Noto Sans CJK JP"/>
              </a:rPr>
              <a:t>問10①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46888"/>
            <a:ext cx="676656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5D6570"/>
                </a:solidFill>
                <a:latin typeface="Noto Sans CJK JP"/>
              </a:rPr>
              <a:t>まず、完成するグラフの形を確認する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58952"/>
            <a:ext cx="11201400" cy="621792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59536"/>
            <a:ext cx="12344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E07000"/>
                </a:solidFill>
                <a:latin typeface="Noto Sans CJK JP"/>
              </a:rPr>
              <a:t>答えの形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822960"/>
            <a:ext cx="896112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202020"/>
                </a:solidFill>
                <a:latin typeface="Noto Sans CJK JP"/>
              </a:rPr>
              <a:t>右上がり → 水平 → 右下がり</a:t>
            </a:r>
          </a:p>
        </p:txBody>
      </p:sp>
      <p:pic>
        <p:nvPicPr>
          <p:cNvPr id="8" name="Picture 7" descr="q10_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19"/>
            <a:ext cx="3840480" cy="3520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892040" y="1737360"/>
            <a:ext cx="644652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938528"/>
            <a:ext cx="512064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24639E"/>
                </a:solidFill>
                <a:latin typeface="Noto Sans CJK JP"/>
              </a:rPr>
              <a:t>グラフをかくための「目印」をつくる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14016"/>
            <a:ext cx="1188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D6570"/>
                </a:solidFill>
                <a:latin typeface="Noto Sans CJK JP"/>
              </a:rPr>
              <a:t>Pの位置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2414016"/>
            <a:ext cx="5029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D6570"/>
                </a:solidFill>
                <a:latin typeface="Noto Sans CJK JP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14016"/>
            <a:ext cx="7772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D6570"/>
                </a:solidFill>
                <a:latin typeface="Noto Sans CJK JP"/>
              </a:rPr>
              <a:t>高さ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14016"/>
            <a:ext cx="1051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D6570"/>
                </a:solidFill>
                <a:latin typeface="Noto Sans CJK JP"/>
              </a:rPr>
              <a:t>面積 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2852928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639E"/>
                </a:solidFill>
                <a:latin typeface="Noto Sans CJK JP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52928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852928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852928"/>
            <a:ext cx="5943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07000"/>
                </a:solidFill>
                <a:latin typeface="Noto Sans CJK JP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3429000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639E"/>
                </a:solidFill>
                <a:latin typeface="Noto Sans CJK JP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29000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429000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429000"/>
            <a:ext cx="5943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07000"/>
                </a:solidFill>
                <a:latin typeface="Noto Sans CJK JP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8112" y="4005072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639E"/>
                </a:solidFill>
                <a:latin typeface="Noto Sans CJK JP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05072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4005072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005072"/>
            <a:ext cx="5943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07000"/>
                </a:solidFill>
                <a:latin typeface="Noto Sans CJK JP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8112" y="4581144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4639E"/>
                </a:solidFill>
                <a:latin typeface="Noto Sans CJK JP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81144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581144"/>
            <a:ext cx="5029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02020"/>
                </a:solidFill>
                <a:latin typeface="Noto Sans CJK JP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581144"/>
            <a:ext cx="5943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E07000"/>
                </a:solidFill>
                <a:latin typeface="Noto Sans CJK JP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12080"/>
            <a:ext cx="539496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5D6570"/>
                </a:solidFill>
                <a:latin typeface="Noto Sans CJK JP"/>
              </a:rPr>
              <a:t>4点は、グラフを描くための目印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943600"/>
            <a:ext cx="11201400" cy="502920"/>
          </a:xfrm>
          <a:prstGeom prst="roundRect">
            <a:avLst/>
          </a:prstGeom>
          <a:solidFill>
            <a:srgbClr val="E8F1F9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044184"/>
            <a:ext cx="1325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24639E"/>
                </a:solidFill>
                <a:latin typeface="Noto Sans CJK JP"/>
              </a:rPr>
              <a:t>使った知識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98464"/>
            <a:ext cx="90068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底辺ABは4cmで一定。変わる「高さ」から面積を出す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219456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D6570"/>
                </a:solidFill>
                <a:latin typeface="Noto Sans CJK JP"/>
              </a:rPr>
              <a:t>一次関数 確認テスト 解説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D6570"/>
                </a:solidFill>
                <a:latin typeface="Noto Sans CJK JP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46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41732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202020"/>
                </a:solidFill>
                <a:latin typeface="Noto Sans CJK JP"/>
              </a:rPr>
              <a:t>問10②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246888"/>
            <a:ext cx="685800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5D6570"/>
                </a:solidFill>
                <a:latin typeface="Noto Sans CJK JP"/>
              </a:rPr>
              <a:t>目印となる4点をつないで、グラフを完成させる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758952"/>
            <a:ext cx="11201400" cy="621792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859536"/>
            <a:ext cx="82296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E07000"/>
                </a:solidFill>
                <a:latin typeface="Noto Sans CJK JP"/>
              </a:rPr>
              <a:t>答え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822960"/>
            <a:ext cx="9555480" cy="42062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202020"/>
                </a:solidFill>
                <a:latin typeface="Noto Sans CJK JP"/>
              </a:rPr>
              <a:t>完成グラフ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47088"/>
            <a:ext cx="34290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7" y="2029968"/>
            <a:ext cx="8686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4639E"/>
                </a:solidFill>
                <a:latin typeface="Noto Sans CJK JP"/>
              </a:rPr>
              <a:t>B→C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19202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高さ↑ → 面積↑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017520"/>
            <a:ext cx="3429000" cy="9601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E0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3200400"/>
            <a:ext cx="8686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E07000"/>
                </a:solidFill>
                <a:latin typeface="Noto Sans CJK JP"/>
              </a:rPr>
              <a:t>C→D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172968"/>
            <a:ext cx="224028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750" b="1">
                <a:solidFill>
                  <a:srgbClr val="202020"/>
                </a:solidFill>
                <a:latin typeface="Noto Sans CJK JP"/>
              </a:rPr>
              <a:t>高さ一定 → 面積一定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187952"/>
            <a:ext cx="3429000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4370832"/>
            <a:ext cx="86868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4639E"/>
                </a:solidFill>
                <a:latin typeface="Noto Sans CJK JP"/>
              </a:rPr>
              <a:t>D→A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4352544"/>
            <a:ext cx="19202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高さ↓ → 面積↓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943600"/>
            <a:ext cx="11201400" cy="502920"/>
          </a:xfrm>
          <a:prstGeom prst="roundRect">
            <a:avLst/>
          </a:prstGeom>
          <a:solidFill>
            <a:srgbClr val="E8F1F9"/>
          </a:solidFill>
          <a:ln w="15240">
            <a:solidFill>
              <a:srgbClr val="246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44184"/>
            <a:ext cx="13258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50" b="1">
                <a:solidFill>
                  <a:srgbClr val="24639E"/>
                </a:solidFill>
                <a:latin typeface="Noto Sans CJK JP"/>
              </a:rPr>
              <a:t>使った知識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98464"/>
            <a:ext cx="9006840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2020"/>
                </a:solidFill>
                <a:latin typeface="Noto Sans CJK JP"/>
              </a:rPr>
              <a:t>問題で求められているのは「xとyの関係を表すグラフ」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219456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5D6570"/>
                </a:solidFill>
                <a:latin typeface="Noto Sans CJK JP"/>
              </a:rPr>
              <a:t>一次関数 確認テスト 解説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01384"/>
            <a:ext cx="502920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D6570"/>
                </a:solidFill>
                <a:latin typeface="Noto Sans CJK JP"/>
              </a:rPr>
              <a:t>16</a:t>
            </a:r>
          </a:p>
        </p:txBody>
      </p:sp>
      <p:pic>
        <p:nvPicPr>
          <p:cNvPr id="23" name="Picture 22" descr="q10_final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664208"/>
            <a:ext cx="7178040" cy="39776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一次関数 確認テスト 解説スライド v2.3 問1調整</dc:title>
  <dc:subject>PDF目視確認による重なり・図中文字サイズの調整</dc:subject>
  <dc:creator>OpenAI</dc:creator>
  <cp:lastModifiedBy>OpenAI</cp:lastModifiedBy>
  <cp:revision>1</cp:revision>
  <dcterms:created xsi:type="dcterms:W3CDTF">2026-10-20T21:15:27Z</dcterms:created>
  <dcterms:modified xsi:type="dcterms:W3CDTF">2026-10-20T21:15:27Z</dcterms:modified>
</cp:coreProperties>
</file>