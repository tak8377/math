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7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097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7BC6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職場体験学習　事前指導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「この子なら大丈夫」</a:t>
            </a:r>
            <a:endParaRPr lang="en-US" sz="4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と思ってもらうために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3337560"/>
            <a:ext cx="38404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7BC62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マナーとは　相手の「不安」を取り除くこと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まず考えてみよう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体験先の人は、どんな気持ちで</a:t>
            </a:r>
            <a:endParaRPr lang="en-US" sz="3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みんなを待っている？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542032"/>
            <a:ext cx="8229600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5176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隣の人と30秒、話してみよう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「楽しみ半分、不安半分…」　「ちゃんと仕事できるか心配」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実は、受け入れる側の人も同じように緊張しているかもしれない。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受け入れ先の声を聞いてみよう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体験先のスタッフは、こんなことを感じていました。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046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78992"/>
            <a:ext cx="64008" cy="21031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43584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毎朝、ちゃんと挨拶してくれるかな…と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ドキドキしていました。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来てくれたとき「おはようございます！」って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言ってくれて、ほっとしました。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" y="28346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（保育園スタッフ・架空のエピソード）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804672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0156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58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考えよう　→　この人が「ドキドキ」していたのはなぜ？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7307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ペアで30秒話し合ってみよう。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受け入れ先の声を聞いてみよう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046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713232"/>
            <a:ext cx="64008" cy="21031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877824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指示したのに動かないで立っていて、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どうしたらいいか困りました。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「わかりません」の一言が言えれば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1A1A1A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こちらも助かるんですが…。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" y="24688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（スーパースタッフ・架空のエピソード）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944368"/>
            <a:ext cx="8046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3580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2つの声に共通していたのは？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438144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困っていた理由　＝　</a:t>
            </a:r>
            <a:r>
              <a:rPr lang="en-US" sz="1400" b="1" dirty="0">
                <a:solidFill>
                  <a:srgbClr val="1A1A1A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「次に何をするかわからない」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「伝わっているかわからない」という不安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7BC6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では、マナーって何のため？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2011680"/>
          </a:xfrm>
          <a:prstGeom prst="rect">
            <a:avLst/>
          </a:prstGeom>
          <a:solidFill>
            <a:srgbClr val="1E3226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7BC6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マナーとは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572768"/>
            <a:ext cx="7680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相手の「不安」を取り除くこと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3218688"/>
            <a:ext cx="1627632" cy="1536192"/>
          </a:xfrm>
          <a:prstGeom prst="rect">
            <a:avLst/>
          </a:prstGeom>
          <a:solidFill>
            <a:srgbClr val="243B2E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3621024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あいさつ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4023360"/>
            <a:ext cx="1481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「来てくれた」と安心する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3218688"/>
            <a:ext cx="1627632" cy="1536192"/>
          </a:xfrm>
          <a:prstGeom prst="rect">
            <a:avLst/>
          </a:prstGeom>
          <a:solidFill>
            <a:srgbClr val="243B2E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3621024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返事をする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4023360"/>
            <a:ext cx="1481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「聞こえてる」と安心する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77056" y="3218688"/>
            <a:ext cx="1627632" cy="1536192"/>
          </a:xfrm>
          <a:prstGeom prst="rect">
            <a:avLst/>
          </a:prstGeom>
          <a:solidFill>
            <a:srgbClr val="243B2E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0208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50208" y="3621024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質問する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50208" y="4023360"/>
            <a:ext cx="1481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「相談してくれる」と安心する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41264" y="3218688"/>
            <a:ext cx="1627632" cy="1536192"/>
          </a:xfrm>
          <a:prstGeom prst="rect">
            <a:avLst/>
          </a:prstGeom>
          <a:solidFill>
            <a:srgbClr val="243B2E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14416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14416" y="3621024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時間を守る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14416" y="4023360"/>
            <a:ext cx="1481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「信頼できる」と安心する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05472" y="3218688"/>
            <a:ext cx="1627632" cy="1536192"/>
          </a:xfrm>
          <a:prstGeom prst="rect">
            <a:avLst/>
          </a:prstGeom>
          <a:solidFill>
            <a:srgbClr val="243B2E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78624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78624" y="3621024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感謝を伝える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78624" y="4023360"/>
            <a:ext cx="1481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「よかった」と感じる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あなたならどうする？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「相手が安心するか」で考えよう。正解はひとつじゃない。グループで話し合って。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88336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10789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325880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場面①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5216" y="1545336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集合時間に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遅れそう…！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" y="185623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誰に、どうやって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連絡する？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234440"/>
            <a:ext cx="2688336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234440"/>
            <a:ext cx="54864" cy="10789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1325880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場面②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38144" y="1545336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指示が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聞き取れなかった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38144" y="185623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黙って動く？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聞き返す？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234440"/>
            <a:ext cx="2688336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234440"/>
            <a:ext cx="54864" cy="10789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325880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場面③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91072" y="1545336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手が空いて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しまった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185623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どんな言葉で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声をかける？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87168"/>
            <a:ext cx="8046720" cy="1810512"/>
          </a:xfrm>
          <a:prstGeom prst="rect">
            <a:avLst/>
          </a:prstGeom>
          <a:solidFill>
            <a:srgbClr val="E8F5E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57860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発表のポイント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" y="2944368"/>
            <a:ext cx="76809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・相手はどんな気持ちで待っている？
・あなたの行動で、相手の不安は消える？
・もっといい言い方はある？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やってみよう！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今日の場面　→　わからないとき・聞き返すとき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頭でわかっていても、声に出せないと意味がない。まず先生のデモを見てから練習しよう。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840480" cy="1536192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6420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❌ これはダメ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011680"/>
            <a:ext cx="35661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71C1C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…（黙ったまま、わかったふりをして動く）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71C1C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→ 間違えて、後でもっと困る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572768"/>
            <a:ext cx="3840480" cy="1536192"/>
          </a:xfrm>
          <a:prstGeom prst="rect">
            <a:avLst/>
          </a:prstGeom>
          <a:solidFill>
            <a:srgbClr val="E8F5E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66420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✅ こうしよう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73168" y="2011680"/>
            <a:ext cx="35661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「すみません、もう一度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　教えていただけますか。」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236976"/>
            <a:ext cx="80467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28416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練習の手順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39312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① 先生のデモを見る（ひどいバージョン→良いバージョン）　② ペアで練習　③ 役割を交替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7BC6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今日のまとめ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1691640"/>
          </a:xfrm>
          <a:prstGeom prst="rect">
            <a:avLst/>
          </a:prstGeom>
          <a:solidFill>
            <a:srgbClr val="1E3226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60120"/>
            <a:ext cx="76809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マナーとは　敬語ではなく</a:t>
            </a:r>
            <a:endParaRPr lang="en-US" sz="3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相手を安心させる力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33472" cy="1335024"/>
          </a:xfrm>
          <a:prstGeom prst="rect">
            <a:avLst/>
          </a:prstGeom>
          <a:solidFill>
            <a:srgbClr val="243B2E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34640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あいさつ・返事・質問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時間・感謝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364992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全部「相手を安心させるため」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4992" y="2743200"/>
            <a:ext cx="2633472" cy="1335024"/>
          </a:xfrm>
          <a:prstGeom prst="rect">
            <a:avLst/>
          </a:prstGeom>
          <a:solidFill>
            <a:srgbClr val="243B2E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2834640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完璧な敬語より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56432" y="3364992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伝わる気持ち・態度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81344" y="2743200"/>
            <a:ext cx="2633472" cy="1335024"/>
          </a:xfrm>
          <a:prstGeom prst="rect">
            <a:avLst/>
          </a:prstGeom>
          <a:solidFill>
            <a:srgbClr val="243B2E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2784" y="2834640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あなたには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72784" y="3364992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その力がある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224528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7BC62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職場体験の前日に、今日の配布資料をもう一度読み返してください。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14638C1E-43F6-76B6-0276-4B8801EAE4CC}"/>
              </a:ext>
            </a:extLst>
          </p:cNvPr>
          <p:cNvSpPr txBox="1"/>
          <p:nvPr/>
        </p:nvSpPr>
        <p:spPr>
          <a:xfrm>
            <a:off x="132862" y="379046"/>
            <a:ext cx="6647974" cy="604780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# </a:t>
            </a:r>
            <a:r>
              <a:rPr kumimoji="1" lang="ja-JP" altLang="en-US" dirty="0"/>
              <a:t>依頼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あなたは、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・中学生向けキャリア教育の専門家</a:t>
            </a:r>
          </a:p>
          <a:p>
            <a:r>
              <a:rPr kumimoji="1" lang="ja-JP" altLang="en-US" dirty="0"/>
              <a:t>・企業の新人研修講師</a:t>
            </a:r>
          </a:p>
          <a:p>
            <a:r>
              <a:rPr kumimoji="1" lang="ja-JP" altLang="en-US" dirty="0"/>
              <a:t>・アクティブラーニング型授業設計者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です。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中学</a:t>
            </a:r>
            <a:r>
              <a:rPr kumimoji="1" lang="en-US" altLang="ja-JP" dirty="0"/>
              <a:t>2</a:t>
            </a:r>
            <a:r>
              <a:rPr kumimoji="1" lang="ja-JP" altLang="en-US" dirty="0"/>
              <a:t>年生の職業体験事前指導として実施する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「マナー講座」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を設計してください。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---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# </a:t>
            </a:r>
            <a:r>
              <a:rPr kumimoji="1" lang="ja-JP" altLang="en-US" dirty="0"/>
              <a:t>前提条件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対象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・公立中学校</a:t>
            </a:r>
            <a:r>
              <a:rPr kumimoji="1" lang="en-US" altLang="ja-JP" dirty="0"/>
              <a:t>2</a:t>
            </a:r>
            <a:r>
              <a:rPr kumimoji="1" lang="ja-JP" altLang="en-US" dirty="0"/>
              <a:t>年生</a:t>
            </a:r>
          </a:p>
          <a:p>
            <a:r>
              <a:rPr kumimoji="1" lang="ja-JP" altLang="en-US" dirty="0"/>
              <a:t>・職業体験前</a:t>
            </a:r>
          </a:p>
          <a:p>
            <a:r>
              <a:rPr kumimoji="1" lang="ja-JP" altLang="en-US" dirty="0"/>
              <a:t>・職業体験先は生徒ごとに異なる</a:t>
            </a:r>
          </a:p>
          <a:p>
            <a:r>
              <a:rPr kumimoji="1" lang="ja-JP" altLang="en-US" dirty="0"/>
              <a:t>（保育園、飲食店、スーパー、図書館、福祉施設、企業など）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授業時間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50</a:t>
            </a:r>
            <a:r>
              <a:rPr kumimoji="1" lang="ja-JP" altLang="en-US" dirty="0"/>
              <a:t>分程度</a:t>
            </a:r>
          </a:p>
          <a:p>
            <a:r>
              <a:rPr kumimoji="1" lang="ja-JP" altLang="en-US" dirty="0"/>
              <a:t>（</a:t>
            </a:r>
            <a:r>
              <a:rPr kumimoji="1" lang="en-US" altLang="ja-JP" dirty="0"/>
              <a:t>40</a:t>
            </a:r>
            <a:r>
              <a:rPr kumimoji="1" lang="ja-JP" altLang="en-US" dirty="0"/>
              <a:t>～</a:t>
            </a:r>
            <a:r>
              <a:rPr kumimoji="1" lang="en-US" altLang="ja-JP" dirty="0"/>
              <a:t>60</a:t>
            </a:r>
            <a:r>
              <a:rPr kumimoji="1" lang="ja-JP" altLang="en-US" dirty="0"/>
              <a:t>分でも成立する構成）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---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# </a:t>
            </a:r>
            <a:r>
              <a:rPr kumimoji="1" lang="ja-JP" altLang="en-US" dirty="0"/>
              <a:t>ゴール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マナーの知識を覚えることではありません。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職業体験先の方から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「この子なら大丈夫」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と思ってもらえる行動ができるようになることです。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---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# </a:t>
            </a:r>
            <a:r>
              <a:rPr kumimoji="1" lang="ja-JP" altLang="en-US" dirty="0"/>
              <a:t>生徒に身につけさせたいこと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① あいさつ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② 返事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③ 分からないことを質問する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④ 時間を守る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⑤ 感謝を伝える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---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# </a:t>
            </a:r>
            <a:r>
              <a:rPr kumimoji="1" lang="ja-JP" altLang="en-US" dirty="0"/>
              <a:t>授業方針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以下の比率を目指してください。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説明：</a:t>
            </a:r>
            <a:r>
              <a:rPr kumimoji="1" lang="en-US" altLang="ja-JP" dirty="0"/>
              <a:t>30</a:t>
            </a:r>
            <a:r>
              <a:rPr kumimoji="1" lang="ja-JP" altLang="en-US" dirty="0"/>
              <a:t>％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生徒活動：</a:t>
            </a:r>
            <a:r>
              <a:rPr kumimoji="1" lang="en-US" altLang="ja-JP" dirty="0"/>
              <a:t>70</a:t>
            </a:r>
            <a:r>
              <a:rPr kumimoji="1" lang="ja-JP" altLang="en-US" dirty="0"/>
              <a:t>％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---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# </a:t>
            </a:r>
            <a:r>
              <a:rPr kumimoji="1" lang="ja-JP" altLang="en-US" dirty="0"/>
              <a:t>授業設計で重視すること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・中学生が退屈しない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・なぜそのマナーが必要なのかを理解できる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・職業体験先の立場を想像できる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・実際の行動に結びつく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・「敬語講座」にならない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---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# </a:t>
            </a:r>
            <a:r>
              <a:rPr kumimoji="1" lang="ja-JP" altLang="en-US" dirty="0"/>
              <a:t>出力してほしいもの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以下をすべて作成してください。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---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## ① </a:t>
            </a:r>
            <a:r>
              <a:rPr kumimoji="1" lang="ja-JP" altLang="en-US" dirty="0"/>
              <a:t>授業全体設計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時間軸付きで作成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例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0</a:t>
            </a:r>
            <a:r>
              <a:rPr kumimoji="1" lang="ja-JP" altLang="en-US" dirty="0"/>
              <a:t>～</a:t>
            </a:r>
            <a:r>
              <a:rPr kumimoji="1" lang="en-US" altLang="ja-JP" dirty="0"/>
              <a:t>5</a:t>
            </a:r>
            <a:r>
              <a:rPr kumimoji="1" lang="ja-JP" altLang="en-US" dirty="0"/>
              <a:t>分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5</a:t>
            </a:r>
            <a:r>
              <a:rPr kumimoji="1" lang="ja-JP" altLang="en-US" dirty="0"/>
              <a:t>～</a:t>
            </a:r>
            <a:r>
              <a:rPr kumimoji="1" lang="en-US" altLang="ja-JP" dirty="0"/>
              <a:t>15</a:t>
            </a:r>
            <a:r>
              <a:rPr kumimoji="1" lang="ja-JP" altLang="en-US" dirty="0"/>
              <a:t>分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15</a:t>
            </a:r>
            <a:r>
              <a:rPr kumimoji="1" lang="ja-JP" altLang="en-US" dirty="0"/>
              <a:t>～</a:t>
            </a:r>
            <a:r>
              <a:rPr kumimoji="1" lang="en-US" altLang="ja-JP" dirty="0"/>
              <a:t>30</a:t>
            </a:r>
            <a:r>
              <a:rPr kumimoji="1" lang="ja-JP" altLang="en-US" dirty="0"/>
              <a:t>分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30</a:t>
            </a:r>
            <a:r>
              <a:rPr kumimoji="1" lang="ja-JP" altLang="en-US" dirty="0"/>
              <a:t>～</a:t>
            </a:r>
            <a:r>
              <a:rPr kumimoji="1" lang="en-US" altLang="ja-JP" dirty="0"/>
              <a:t>45</a:t>
            </a:r>
            <a:r>
              <a:rPr kumimoji="1" lang="ja-JP" altLang="en-US" dirty="0"/>
              <a:t>分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45</a:t>
            </a:r>
            <a:r>
              <a:rPr kumimoji="1" lang="ja-JP" altLang="en-US" dirty="0"/>
              <a:t>～</a:t>
            </a:r>
            <a:r>
              <a:rPr kumimoji="1" lang="en-US" altLang="ja-JP" dirty="0"/>
              <a:t>50</a:t>
            </a:r>
            <a:r>
              <a:rPr kumimoji="1" lang="ja-JP" altLang="en-US" dirty="0"/>
              <a:t>分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など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各時間帯について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・教師の活動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・生徒の活動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・ねらい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を記載すること。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---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## ② </a:t>
            </a:r>
            <a:r>
              <a:rPr kumimoji="1" lang="ja-JP" altLang="en-US" dirty="0"/>
              <a:t>説明スライド構成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Google</a:t>
            </a:r>
            <a:r>
              <a:rPr kumimoji="1" lang="ja-JP" altLang="en-US" dirty="0"/>
              <a:t>スライドを想定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各スライドについて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・タイトル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・表示内容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・教師のセリフ例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を記載すること。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～</a:t>
            </a:r>
            <a:r>
              <a:rPr kumimoji="1" lang="en-US" altLang="ja-JP" dirty="0"/>
              <a:t>15</a:t>
            </a:r>
            <a:r>
              <a:rPr kumimoji="1" lang="ja-JP" altLang="en-US" dirty="0"/>
              <a:t>枚程度を想定。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---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## ③ </a:t>
            </a:r>
            <a:r>
              <a:rPr kumimoji="1" lang="ja-JP" altLang="en-US" dirty="0"/>
              <a:t>生徒配布資料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A4</a:t>
            </a:r>
            <a:r>
              <a:rPr kumimoji="1" lang="ja-JP" altLang="en-US" dirty="0"/>
              <a:t>両面</a:t>
            </a:r>
            <a:r>
              <a:rPr kumimoji="1" lang="en-US" altLang="ja-JP" dirty="0"/>
              <a:t>1</a:t>
            </a:r>
            <a:r>
              <a:rPr kumimoji="1" lang="ja-JP" altLang="en-US" dirty="0"/>
              <a:t>枚程度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内容は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・授業中に書き込みできる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・職業体験前日に見返せる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・持ち帰って家族とも確認できる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ものとする。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---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## ④ </a:t>
            </a:r>
            <a:r>
              <a:rPr kumimoji="1" lang="ja-JP" altLang="en-US" dirty="0"/>
              <a:t>ケーススタディ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授業で扱う事例を</a:t>
            </a:r>
            <a:r>
              <a:rPr kumimoji="1" lang="en-US" altLang="ja-JP" dirty="0"/>
              <a:t>5</a:t>
            </a:r>
            <a:r>
              <a:rPr kumimoji="1" lang="ja-JP" altLang="en-US" dirty="0"/>
              <a:t>～</a:t>
            </a:r>
            <a:r>
              <a:rPr kumimoji="1" lang="en-US" altLang="ja-JP" dirty="0"/>
              <a:t>10</a:t>
            </a:r>
            <a:r>
              <a:rPr kumimoji="1" lang="ja-JP" altLang="en-US" dirty="0"/>
              <a:t>個作成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例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・集合時間に遅れそう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・指示が聞き取れなかった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・失敗してしまった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・やることがなくなった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など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生徒が考えやすい内容にする。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---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## ⑤ </a:t>
            </a:r>
            <a:r>
              <a:rPr kumimoji="1" lang="ja-JP" altLang="en-US" dirty="0"/>
              <a:t>ロールプレイ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実際に生徒が練習できる内容を作成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例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・初対面のあいさつ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・質問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・お礼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など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---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# </a:t>
            </a:r>
            <a:r>
              <a:rPr kumimoji="1" lang="ja-JP" altLang="en-US" dirty="0"/>
              <a:t>授業テーマ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単なる「マナー講座」ではなく、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## </a:t>
            </a:r>
            <a:r>
              <a:rPr kumimoji="1" lang="ja-JP" altLang="en-US" dirty="0"/>
              <a:t>職業体験で大切なこと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### </a:t>
            </a:r>
            <a:r>
              <a:rPr kumimoji="1" lang="ja-JP" altLang="en-US" dirty="0"/>
              <a:t>「この子なら大丈夫」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と思ってもらうために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を中心テーマとして構成すること。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---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# </a:t>
            </a:r>
            <a:r>
              <a:rPr kumimoji="1" lang="ja-JP" altLang="en-US" dirty="0"/>
              <a:t>最後に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授業後、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生徒が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「敬語が大事なんだ」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ではなく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「相手を安心させることが大事なんだ」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と思える構成にしてください。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92796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768</Words>
  <Application>Microsoft Office PowerPoint</Application>
  <PresentationFormat>画面に合わせる (16:9)</PresentationFormat>
  <Paragraphs>312</Paragraphs>
  <Slides>9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MS Gothic</vt:lpstr>
      <vt:lpstr>MS Mincho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マナー講座</dc:title>
  <dc:subject>PptxGenJS Presentation</dc:subject>
  <dc:creator>PptxGenJS</dc:creator>
  <cp:lastModifiedBy>Takayuki Sakurai</cp:lastModifiedBy>
  <cp:revision>2</cp:revision>
  <dcterms:created xsi:type="dcterms:W3CDTF">2026-06-03T21:31:05Z</dcterms:created>
  <dcterms:modified xsi:type="dcterms:W3CDTF">2026-06-03T21:36:17Z</dcterms:modified>
</cp:coreProperties>
</file>